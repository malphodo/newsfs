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7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17EFE2-292E-5343-B8B5-EB3AE26F0677}" v="5" dt="2026-07-01T09:40:54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41"/>
    <p:restoredTop sz="94610"/>
  </p:normalViewPr>
  <p:slideViewPr>
    <p:cSldViewPr snapToGrid="0" snapToObjects="1">
      <p:cViewPr varScale="1">
        <p:scale>
          <a:sx n="226" d="100"/>
          <a:sy n="226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COUTRE Laurent (CA-GIP)" userId="40519f1a-df31-4b9b-9a97-3661071dcddd" providerId="ADAL" clId="{3D63E39A-258D-5408-B23A-F6B3ED6224EF}"/>
    <pc:docChg chg="modSld">
      <pc:chgData name="LECOUTRE Laurent (CA-GIP)" userId="40519f1a-df31-4b9b-9a97-3661071dcddd" providerId="ADAL" clId="{3D63E39A-258D-5408-B23A-F6B3ED6224EF}" dt="2026-07-01T12:12:43.905" v="19" actId="20577"/>
      <pc:docMkLst>
        <pc:docMk/>
      </pc:docMkLst>
      <pc:sldChg chg="modSp mod">
        <pc:chgData name="LECOUTRE Laurent (CA-GIP)" userId="40519f1a-df31-4b9b-9a97-3661071dcddd" providerId="ADAL" clId="{3D63E39A-258D-5408-B23A-F6B3ED6224EF}" dt="2026-07-01T12:12:43.905" v="19" actId="20577"/>
        <pc:sldMkLst>
          <pc:docMk/>
          <pc:sldMk cId="4083273568" sldId="267"/>
        </pc:sldMkLst>
        <pc:spChg chg="mod">
          <ac:chgData name="LECOUTRE Laurent (CA-GIP)" userId="40519f1a-df31-4b9b-9a97-3661071dcddd" providerId="ADAL" clId="{3D63E39A-258D-5408-B23A-F6B3ED6224EF}" dt="2026-07-01T12:12:43.905" v="19" actId="20577"/>
          <ac:spMkLst>
            <pc:docMk/>
            <pc:sldMk cId="4083273568" sldId="267"/>
            <ac:spMk id="2" creationId="{AF254127-0427-3078-2B66-3A8B002C99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F1AC38-33F0-4AB8-929D-949A0F170F2E}" type="datetimeFigureOut">
              <a:t>01/07/2026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07DD7-DB0C-4728-9039-A78B997DDABB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543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C7D5-A7A2-0E92-0AA4-C86CA8B6F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080FDB-8BFB-555D-891D-0EC37EE59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ED0BD-D79A-6B52-C30E-9F8373D02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173B1-A1CC-B114-0157-7CC65FC581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928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44507A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48640" y="5486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689458"/>
            <a:ext cx="358445" cy="3584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6692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 CLOUD PUBLIC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Opérationnel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54864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Landing Zone Internationale (LZI)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2011680" cy="36576"/>
          </a:xfrm>
          <a:prstGeom prst="rect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des équipes — Responsabilités — Processus — Gouvernance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discussion — Cluster / Entité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 du document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4297680"/>
          </a:xfrm>
          <a:prstGeom prst="roundRect">
            <a:avLst>
              <a:gd name="adj" fmla="val 1702"/>
            </a:avLst>
          </a:prstGeom>
          <a:solidFill>
            <a:srgbClr val="F4F6FC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1691640"/>
            <a:ext cx="6309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présente le modèle opérationnel de la responsabilité du cluster autour de la LZI.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définit le mode de fonctionnement des équipes en charge de l'exploitation, les responsabilités de chacun, les processus associés.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5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pose la gouvernance permettant d'assurer une plateforme Cloud fiable, sécurisée et industrialisée.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0" y="1371600"/>
            <a:ext cx="3840480" cy="4297680"/>
          </a:xfrm>
          <a:prstGeom prst="roundRect">
            <a:avLst>
              <a:gd name="adj" fmla="val 190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183880" y="17373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581" y="18580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0" y="16916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base de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83880" y="2560320"/>
            <a:ext cx="32004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client pour valider l'organisation cible, les modalités de collaboration et les principes de fonctionnement de la LZI.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Périmètre et fonctionnement de la Landing Zone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LZI CA Corp est gérée par le CPE, structurée selon le standard AWS (comptes de fondation, réseau, sécurité, logs, monitoring, catalogue de services).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met en œuvre les solutions désignées par les architectes de l'entité, en consultation avec les architectes du DE.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61772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842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— BUILD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1772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place prioritaire de l'IaC et industrialisation des solutions, suite à la standardisation des architectes.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1874520"/>
            <a:ext cx="347472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841248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3181" y="226954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2834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— RUN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412480" y="32461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CloudOps assurent le RUN de la plateforme : qui réalise le BUILD prend en charge le RUN.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77240" y="4608576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" y="4719218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4348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noter : les solutions mises en place dans la LZI peuvent être hybrides (cloud public + cloud privé / legacy).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Complémentarité CloudOps / AppOps sur les applications hybrides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749040" cy="2468880"/>
          </a:xfrm>
          <a:prstGeom prst="roundRect">
            <a:avLst>
              <a:gd name="adj" fmla="val 259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8580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8346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sur le périmètre Cloud Public.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1463040"/>
            <a:ext cx="3749040" cy="2468880"/>
          </a:xfrm>
          <a:prstGeom prst="roundRect">
            <a:avLst>
              <a:gd name="adj" fmla="val 2593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8138160" y="17373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8861" y="185806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13816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AppOps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8138160" y="28346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sur le périmètre Cloud Privé / Legacy.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623560" y="2240280"/>
            <a:ext cx="914400" cy="91440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5788152" y="2404872"/>
            <a:ext cx="585216" cy="585216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900" y="2533620"/>
            <a:ext cx="327721" cy="3277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03520" y="39776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548640" y="4526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équivalentes, positionnées sur des périmètres différents : chaque équipe intervient sur son périmètre de responsabilité technique, en complémentarité, sur une même application hybride.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1663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121636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9" name="Shape 14"/>
          <p:cNvSpPr/>
          <p:nvPr/>
        </p:nvSpPr>
        <p:spPr>
          <a:xfrm>
            <a:off x="868680" y="5440680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9556" y="559155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83080" y="53035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Astreinte managériale — point d'entrée unique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1783080" y="5650992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 la demande et l'aiguille vers l'équipe compétente (CloudOps, AppOps, ou les deux en cas d'impact transverse). Synchronisation continue orchestrée par les SDM, Chefs de Projet et le Lead Domaine.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509E7-77F4-9BB6-C673-7878AC67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254127-0427-3078-2B66-3A8B002C998C}"/>
              </a:ext>
            </a:extLst>
          </p:cNvPr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Eco-</a:t>
            </a:r>
            <a:r>
              <a:rPr lang="en-US" sz="30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système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Domaines </a:t>
            </a:r>
            <a:r>
              <a:rPr lang="en-US" sz="30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Expertises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SFS (</a:t>
            </a: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Laurent)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3E703A6-0707-3496-71A6-5366E09DCA8C}"/>
              </a:ext>
            </a:extLst>
          </p:cNvPr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 Cloud Public regroupe les compétences nécessaires à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l'exploitation de la LZI.</a:t>
            </a: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BBAF5A9-814B-183D-1352-2642CDADBCEC}"/>
              </a:ext>
            </a:extLst>
          </p:cNvPr>
          <p:cNvSpPr/>
          <p:nvPr/>
        </p:nvSpPr>
        <p:spPr>
          <a:xfrm>
            <a:off x="4251960" y="1737360"/>
            <a:ext cx="365760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AA3EB3-AB98-A695-178D-774FB159EC22}"/>
              </a:ext>
            </a:extLst>
          </p:cNvPr>
          <p:cNvSpPr/>
          <p:nvPr/>
        </p:nvSpPr>
        <p:spPr>
          <a:xfrm>
            <a:off x="4434840" y="1901952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2A6D4ADA-86A7-1078-8C7C-3C048D0D88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541" y="2022653"/>
            <a:ext cx="307238" cy="307238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709580A9-D491-3E6C-5FB4-C3796720D34A}"/>
              </a:ext>
            </a:extLst>
          </p:cNvPr>
          <p:cNvSpPr/>
          <p:nvPr/>
        </p:nvSpPr>
        <p:spPr>
          <a:xfrm>
            <a:off x="5120640" y="181051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Public</a:t>
            </a:r>
            <a:endParaRPr lang="en-US" sz="135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645A31F2-2FAA-B3A6-ACE1-9C73DB370B72}"/>
              </a:ext>
            </a:extLst>
          </p:cNvPr>
          <p:cNvSpPr/>
          <p:nvPr/>
        </p:nvSpPr>
        <p:spPr>
          <a:xfrm>
            <a:off x="6080760" y="2606040"/>
            <a:ext cx="0" cy="36576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68DB107-6B14-13C0-B323-D532B6EA7EEC}"/>
              </a:ext>
            </a:extLst>
          </p:cNvPr>
          <p:cNvSpPr/>
          <p:nvPr/>
        </p:nvSpPr>
        <p:spPr>
          <a:xfrm>
            <a:off x="2743200" y="2971800"/>
            <a:ext cx="6675120" cy="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A57F697-CFD8-73C0-AC64-DED642D1676A}"/>
              </a:ext>
            </a:extLst>
          </p:cNvPr>
          <p:cNvSpPr/>
          <p:nvPr/>
        </p:nvSpPr>
        <p:spPr>
          <a:xfrm>
            <a:off x="274320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E44A2FA7-CADA-B745-2D67-44519069E7D2}"/>
              </a:ext>
            </a:extLst>
          </p:cNvPr>
          <p:cNvSpPr/>
          <p:nvPr/>
        </p:nvSpPr>
        <p:spPr>
          <a:xfrm>
            <a:off x="941832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50C84BB-BB84-037A-B57A-9F736C8C2416}"/>
              </a:ext>
            </a:extLst>
          </p:cNvPr>
          <p:cNvSpPr/>
          <p:nvPr/>
        </p:nvSpPr>
        <p:spPr>
          <a:xfrm>
            <a:off x="109728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40EDC8D-6E97-744A-09D7-EBC3D922057A}"/>
              </a:ext>
            </a:extLst>
          </p:cNvPr>
          <p:cNvSpPr/>
          <p:nvPr/>
        </p:nvSpPr>
        <p:spPr>
          <a:xfrm>
            <a:off x="132588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>
            <a:extLst>
              <a:ext uri="{FF2B5EF4-FFF2-40B4-BE49-F238E27FC236}">
                <a16:creationId xmlns:a16="http://schemas.microsoft.com/office/drawing/2014/main" id="{CB5A3D59-35A8-8F94-81A2-DC21579B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22" y="3585362"/>
            <a:ext cx="281635" cy="281635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2D26FD7B-459C-05CA-AB0D-0BE4027A9929}"/>
              </a:ext>
            </a:extLst>
          </p:cNvPr>
          <p:cNvSpPr/>
          <p:nvPr/>
        </p:nvSpPr>
        <p:spPr>
          <a:xfrm>
            <a:off x="196596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endParaRPr lang="en-US" sz="135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F716DCD4-F6BE-EDCC-87F6-23BA2B9C4E6E}"/>
              </a:ext>
            </a:extLst>
          </p:cNvPr>
          <p:cNvSpPr/>
          <p:nvPr/>
        </p:nvSpPr>
        <p:spPr>
          <a:xfrm>
            <a:off x="132588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de la Landing Zone</a:t>
            </a:r>
            <a:endParaRPr lang="en-US" sz="115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0C4A0D48-2740-9383-765B-5FFEAADD6AC0}"/>
              </a:ext>
            </a:extLst>
          </p:cNvPr>
          <p:cNvSpPr/>
          <p:nvPr/>
        </p:nvSpPr>
        <p:spPr>
          <a:xfrm>
            <a:off x="777240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EFC52DB7-D972-3EB2-B226-560A126FDACE}"/>
              </a:ext>
            </a:extLst>
          </p:cNvPr>
          <p:cNvSpPr/>
          <p:nvPr/>
        </p:nvSpPr>
        <p:spPr>
          <a:xfrm>
            <a:off x="800100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BB9CD5C-6499-A26E-D60A-B15F49FF50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1642" y="3585362"/>
            <a:ext cx="281635" cy="281635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EA351E7C-96DE-7ACE-1246-0EED90B6627D}"/>
              </a:ext>
            </a:extLst>
          </p:cNvPr>
          <p:cNvSpPr/>
          <p:nvPr/>
        </p:nvSpPr>
        <p:spPr>
          <a:xfrm>
            <a:off x="864108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Cloud</a:t>
            </a:r>
            <a:endParaRPr lang="en-US" sz="13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24B107A8-3093-8F84-E21E-CD1B09D07A3C}"/>
              </a:ext>
            </a:extLst>
          </p:cNvPr>
          <p:cNvSpPr/>
          <p:nvPr/>
        </p:nvSpPr>
        <p:spPr>
          <a:xfrm>
            <a:off x="800100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avec les architectures CAPFM CORP</a:t>
            </a:r>
            <a:endParaRPr lang="en-US" sz="115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301A6A9B-E544-2419-8C9E-5EC6BAAD5B19}"/>
              </a:ext>
            </a:extLst>
          </p:cNvPr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E8A81CD-9502-0E49-A1C3-29DF50218A4A}"/>
              </a:ext>
            </a:extLst>
          </p:cNvPr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cible : organisation dédiée (maturité avancée) — équipe CloudOps dédiée au cloud public.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083273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 des équipes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 Cloud Public regroupe les compétences nécessaires à </a:t>
            </a:r>
            <a:r>
              <a:rPr lang="en-US" sz="1300" dirty="0" err="1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l'évolution</a:t>
            </a:r>
            <a:r>
              <a:rPr lang="en-US" sz="1300" dirty="0">
                <a:solidFill>
                  <a:srgbClr val="44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l'exploitation de la LZI.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51960" y="1737360"/>
            <a:ext cx="365760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434840" y="1901952"/>
            <a:ext cx="548640" cy="548640"/>
          </a:xfrm>
          <a:prstGeom prst="ellipse">
            <a:avLst/>
          </a:prstGeom>
          <a:solidFill>
            <a:srgbClr val="2E3A8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5541" y="202265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0" y="181051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d'Expertise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Public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080760" y="2606040"/>
            <a:ext cx="0" cy="36576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2743200" y="2971800"/>
            <a:ext cx="6675120" cy="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74320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9418320" y="2971800"/>
            <a:ext cx="0" cy="274320"/>
          </a:xfrm>
          <a:prstGeom prst="line">
            <a:avLst/>
          </a:prstGeom>
          <a:noFill/>
          <a:ln w="19050">
            <a:solidFill>
              <a:srgbClr val="4450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109728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132588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22" y="3585362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6596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32588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RUN de la Landing Zone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772400" y="3246120"/>
            <a:ext cx="3291840" cy="1417320"/>
          </a:xfrm>
          <a:prstGeom prst="roundRect">
            <a:avLst>
              <a:gd name="adj" fmla="val 4516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18" name="Shape 14"/>
          <p:cNvSpPr/>
          <p:nvPr/>
        </p:nvSpPr>
        <p:spPr>
          <a:xfrm>
            <a:off x="8001000" y="3474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1642" y="3585362"/>
            <a:ext cx="281635" cy="28163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641080" y="344728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Cloud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8001000" y="402336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avec les architectures CAPFM CORP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/>
          <p:nvPr/>
        </p:nvSpPr>
        <p:spPr>
          <a:xfrm>
            <a:off x="822960" y="498348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cible : organisation dédiée (maturité avancée) — équipe CloudOps dédiée au cloud public.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CloudOps — Activités BUILD &amp; RUN + </a:t>
            </a:r>
            <a:r>
              <a:rPr lang="en-US" sz="28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financement</a:t>
            </a: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</a:t>
            </a:r>
            <a:r>
              <a:rPr lang="en-US" sz="28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enveloppe</a:t>
            </a: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budgétaire</a:t>
            </a: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(Laurent)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77240" y="14904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17" y="1607149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37160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4754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technique des composants de la Landing Zone et des projets métiers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des services AWS (réseau, sécurité, IAM, comptes…)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et maintenance des modules IaC (Terraform)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des nouveaux besoins exprimés par les projets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à la documentation technique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aux choix techniques avec les architectes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1371600"/>
            <a:ext cx="539496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400800" y="137160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629400" y="1490472"/>
            <a:ext cx="530352" cy="53035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077" y="1607149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137160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720840" y="2331720"/>
            <a:ext cx="47548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des comptes / périmètres applicatifs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incidents (analyse, résolution, communication)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changements (planification, mise en œuvre, suivi)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quotidienne des services AWS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alertes de sécurité et remédiation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des coûts et gestion des capacités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 et sécurité continue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Astreinte CloudOps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la continuité des services et applications en dehors des heures ouvrées.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675120" cy="4754880"/>
          </a:xfrm>
          <a:prstGeom prst="roundRect">
            <a:avLst>
              <a:gd name="adj" fmla="val 1346"/>
            </a:avLst>
          </a:prstGeom>
          <a:solidFill>
            <a:srgbClr val="1B215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20409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65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560320"/>
            <a:ext cx="60350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d'astreinte au sein des équipes CloudOps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définie avec le client (soir, nuit, week-end, jours fériés)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sur incidents critiques, en synchronisation avec le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Credibom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de supervision et d'alerte pour déclencher les interventions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des interventions, intégrée à la gestion des incidents</a:t>
            </a:r>
            <a:endParaRPr lang="en-US" sz="13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Escalade vers les architectes ou le CPE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necessaire</a:t>
            </a:r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Astreinte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fondations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LZI =&gt;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Credibom</a:t>
            </a:r>
            <a:endParaRPr lang="en-US" sz="1300" dirty="0">
              <a:solidFill>
                <a:srgbClr val="CADCFC"/>
              </a:solidFill>
              <a:latin typeface="Calibri" pitchFamily="34" charset="0"/>
              <a:cs typeface="Calibri" pitchFamily="34" charset="-120"/>
            </a:endParaRPr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Chaque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projet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doit se conformer à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l’organisation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l’astreinte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06640" y="1691640"/>
            <a:ext cx="4206240" cy="4754880"/>
          </a:xfrm>
          <a:prstGeom prst="roundRect">
            <a:avLst>
              <a:gd name="adj" fmla="val 1522"/>
            </a:avLst>
          </a:prstGeom>
          <a:solidFill>
            <a:srgbClr val="F2A9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68096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602" y="203088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321040" y="187452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définir avec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680960" y="2606040"/>
            <a:ext cx="3657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des services couverts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 de criticité déclenchant une intervention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d'intervention attendus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de la rotation</a:t>
            </a:r>
            <a:endParaRPr lang="en-US" sz="12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les SLA / SLO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alignés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les standards CAGIP (date de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démarrage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250" dirty="0" err="1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préciser</a:t>
            </a: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Rôles des autres parties prenantes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5544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(DE)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24028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Co-construction des architectures, définition des standards techniques, accompagnement des équipes CloudOps et des projets.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28016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537960" y="15544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16751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55448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37960" y="224028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orientations d'architecture, priorisation des besoins, arbitrage des sujets structurants.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88620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822960" y="4160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1" y="428122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54480" y="416052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Équipes Projet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84632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Consomment les services de la Landing Zone ; demandes traitées via les outils de gestion mis à disposition.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263640" y="3886200"/>
            <a:ext cx="5349240" cy="2286000"/>
          </a:xfrm>
          <a:prstGeom prst="roundRect">
            <a:avLst>
              <a:gd name="adj" fmla="val 2800"/>
            </a:avLst>
          </a:prstGeom>
          <a:solidFill>
            <a:srgbClr val="F4F6FC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6537960" y="41605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8661" y="428122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269480" y="4160520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537960" y="4846320"/>
            <a:ext cx="4800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Apporte son expertise sur les composants dont il est responsable lors des incidents ou évolutions nécessitant un support spécifique.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Processus opérationnels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19394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demandes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7724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Centralisées via Jira : qualification, priorisation, affectation, traitement.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9471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62331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952" y="193944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2331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incidents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62331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Détection, qualification, diagnostic, résolution, communication, retour d'expérience.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4078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646938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193944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6938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changements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46938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planification, mise en œuvre et suivi des changements.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086850" y="1554480"/>
            <a:ext cx="2526030" cy="4206240"/>
          </a:xfrm>
          <a:prstGeom prst="roundRect">
            <a:avLst>
              <a:gd name="adj" fmla="val 2534"/>
            </a:avLst>
          </a:prstGeom>
          <a:solidFill>
            <a:srgbClr val="44507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931545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092" y="1939442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15450" y="2514600"/>
            <a:ext cx="206883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la sécurité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9315450" y="3337560"/>
            <a:ext cx="206883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de sécurité, vulnérabilités, accès, conformité contractuelle.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Gouvernance &amp; interactions entre équipes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03520" cy="4937760"/>
          </a:xfrm>
          <a:prstGeom prst="roundRect">
            <a:avLst>
              <a:gd name="adj" fmla="val 1296"/>
            </a:avLst>
          </a:prstGeom>
          <a:solidFill>
            <a:srgbClr val="F4F6F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22" y="161940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5361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claire des responsabilités entre le DE Cloud Public et CAPFM Corp, incluant le CPE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formalisés (demandes, incidents, changements)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étroite entre CloudOps, architectes et équipes projets</a:t>
            </a:r>
            <a:endParaRPr lang="en-US" sz="12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50" dirty="0">
                <a:solidFill>
                  <a:srgbClr val="121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Mécanismes de suivi et de pilotage des activités BUILD et RUN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280160"/>
            <a:ext cx="5486400" cy="4937760"/>
          </a:xfrm>
          <a:prstGeom prst="roundRect">
            <a:avLst>
              <a:gd name="adj" fmla="val 129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446520" y="15087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62" y="161940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5361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clés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46520" y="2148840"/>
            <a:ext cx="48920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Architectes DE : mise en œuvre &amp; validation technique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Architectes DE ↔ Architectes Corp : co-construction &amp; validation finale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CAPFM Corp : exploitation, demandes, incidents — via Chef de Projet / SDM, qualifiés par le DE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 ↔ Équipes Projet : accompagnement &amp; intégration des besoins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CAPFM Corp ↔ Équipes Projet : priorisation &amp; cadrage des besoins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121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à valider avec le client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exact du CPE : opérateur global de la LZI ou support ponctuel par composant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Astreinte managériale hybride : qui l'assure (SDM, Lead Domaine, Chef de Projet en rotation)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Complémentarité CloudOps / AppOps : s'applique-t-elle au BUILD ou uniquement au RUN ?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scénario d'organisation cible et des matrices RACI détaillées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des outils (Jira, supervision, logging) et des canaux de communication</a:t>
            </a:r>
            <a:endParaRPr lang="en-US" sz="16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des indicateurs de niveaux de service (SLA / SLO)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daed77b-87a6-445a-b9ad-b849e8c57051" xsi:nil="true"/>
    <lcf76f155ced4ddcb4097134ff3c332f xmlns="c7267b83-c4d7-4ce9-a1b0-994575924ad9">
      <Terms xmlns="http://schemas.microsoft.com/office/infopath/2007/PartnerControls"/>
    </lcf76f155ced4ddcb4097134ff3c332f>
    <_Flow_SignoffStatus xmlns="c7267b83-c4d7-4ce9-a1b0-994575924ad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DF514E254C4C4595328D2948ADE44A" ma:contentTypeVersion="17" ma:contentTypeDescription="Crée un document." ma:contentTypeScope="" ma:versionID="57e8feae70145f163c762c713184ccd1">
  <xsd:schema xmlns:xsd="http://www.w3.org/2001/XMLSchema" xmlns:xs="http://www.w3.org/2001/XMLSchema" xmlns:p="http://schemas.microsoft.com/office/2006/metadata/properties" xmlns:ns2="c7267b83-c4d7-4ce9-a1b0-994575924ad9" xmlns:ns3="fdaed77b-87a6-445a-b9ad-b849e8c57051" targetNamespace="http://schemas.microsoft.com/office/2006/metadata/properties" ma:root="true" ma:fieldsID="7d0c9466dc4d6a357621c3606650224e" ns2:_="" ns3:_="">
    <xsd:import namespace="c7267b83-c4d7-4ce9-a1b0-994575924ad9"/>
    <xsd:import namespace="fdaed77b-87a6-445a-b9ad-b849e8c570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_Flow_SignoffStatus" minOccurs="0"/>
                <xsd:element ref="ns2:MediaServiceLocation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267b83-c4d7-4ce9-a1b0-994575924a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cb4e1ff1-4910-4b26-8f48-d1ddcd02db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Flow_SignoffStatus" ma:index="21" nillable="true" ma:displayName="État de validation" ma:internalName="_x00c9_tat_x0020_de_x0020_validation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aed77b-87a6-445a-b9ad-b849e8c5705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503d6c7c-498c-43c1-b733-db9c17aed5b4}" ma:internalName="TaxCatchAll" ma:showField="CatchAllData" ma:web="fdaed77b-87a6-445a-b9ad-b849e8c570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7F55C5-560E-44B0-9DD1-9CE2B36314A4}">
  <ds:schemaRefs>
    <ds:schemaRef ds:uri="http://purl.org/dc/dcmitype/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fdaed77b-87a6-445a-b9ad-b849e8c57051"/>
    <ds:schemaRef ds:uri="c7267b83-c4d7-4ce9-a1b0-994575924ad9"/>
  </ds:schemaRefs>
</ds:datastoreItem>
</file>

<file path=customXml/itemProps2.xml><?xml version="1.0" encoding="utf-8"?>
<ds:datastoreItem xmlns:ds="http://schemas.openxmlformats.org/officeDocument/2006/customXml" ds:itemID="{292DF0ED-294E-42F1-B6A8-3711B65ACA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F00184-F577-4467-BFB8-C2CF797B200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267b83-c4d7-4ce9-a1b0-994575924ad9"/>
    <ds:schemaRef ds:uri="fdaed77b-87a6-445a-b9ad-b849e8c570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1073</Words>
  <Application>Microsoft Macintosh PowerPoint</Application>
  <PresentationFormat>Grand écran</PresentationFormat>
  <Paragraphs>132</Paragraphs>
  <Slides>12</Slides>
  <Notes>12</Notes>
  <HiddenSlides>3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Opérationnel LZI</dc:title>
  <dc:subject>PptxGenJS Presentation</dc:subject>
  <dc:creator>DE Cloud Public</dc:creator>
  <cp:lastModifiedBy>LECOUTRE Laurent (CA-GIP)</cp:lastModifiedBy>
  <cp:revision>3</cp:revision>
  <dcterms:created xsi:type="dcterms:W3CDTF">2026-06-30T05:56:25Z</dcterms:created>
  <dcterms:modified xsi:type="dcterms:W3CDTF">2026-07-01T12:12:46Z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cad6431-53ea-4466-8111-3fefa470bcb9_Enabled">
    <vt:lpwstr>true</vt:lpwstr>
  </property>
  <property fmtid="{D5CDD505-2E9C-101B-9397-08002B2CF9AE}" pid="3" name="MSIP_Label_4cad6431-53ea-4466-8111-3fefa470bcb9_SetDate">
    <vt:lpwstr>2026-07-01T11:28:51Z</vt:lpwstr>
  </property>
  <property fmtid="{D5CDD505-2E9C-101B-9397-08002B2CF9AE}" pid="4" name="MSIP_Label_4cad6431-53ea-4466-8111-3fefa470bcb9_Method">
    <vt:lpwstr>Privileged</vt:lpwstr>
  </property>
  <property fmtid="{D5CDD505-2E9C-101B-9397-08002B2CF9AE}" pid="5" name="MSIP_Label_4cad6431-53ea-4466-8111-3fefa470bcb9_Name">
    <vt:lpwstr>Usage Interne</vt:lpwstr>
  </property>
  <property fmtid="{D5CDD505-2E9C-101B-9397-08002B2CF9AE}" pid="6" name="MSIP_Label_4cad6431-53ea-4466-8111-3fefa470bcb9_SiteId">
    <vt:lpwstr>fb3baf17-c313-474c-8d5d-577a3ec97a32</vt:lpwstr>
  </property>
  <property fmtid="{D5CDD505-2E9C-101B-9397-08002B2CF9AE}" pid="7" name="MSIP_Label_4cad6431-53ea-4466-8111-3fefa470bcb9_ActionId">
    <vt:lpwstr>c6e29e98-1fde-4345-b470-8385f774ccb9</vt:lpwstr>
  </property>
  <property fmtid="{D5CDD505-2E9C-101B-9397-08002B2CF9AE}" pid="8" name="MSIP_Label_4cad6431-53ea-4466-8111-3fefa470bcb9_ContentBits">
    <vt:lpwstr>0</vt:lpwstr>
  </property>
  <property fmtid="{D5CDD505-2E9C-101B-9397-08002B2CF9AE}" pid="9" name="MSIP_Label_4cad6431-53ea-4466-8111-3fefa470bcb9_Tag">
    <vt:lpwstr>50, 0, 1, 1</vt:lpwstr>
  </property>
  <property fmtid="{D5CDD505-2E9C-101B-9397-08002B2CF9AE}" pid="10" name="ContentTypeId">
    <vt:lpwstr>0x01010019DF514E254C4C4595328D2948ADE44A</vt:lpwstr>
  </property>
  <property fmtid="{D5CDD505-2E9C-101B-9397-08002B2CF9AE}" pid="11" name="MediaServiceImageTags">
    <vt:lpwstr/>
  </property>
</Properties>
</file>